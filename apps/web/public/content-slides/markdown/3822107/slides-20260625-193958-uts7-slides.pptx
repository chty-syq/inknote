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1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3" userDrawn="1">
          <p15:clr>
            <a:srgbClr val="747775"/>
          </p15:clr>
        </p15:guide>
        <p15:guide id="2" pos="286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3"/>
        <p:guide pos="286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7000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"/>
          </p:nvPr>
        </p:nvSpPr>
        <p:spPr>
          <a:xfrm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ph type="body" sz="quarter" idx="5" hasCustomPrompt="1"/>
          </p:nvPr>
        </p:nvSpPr>
        <p:spPr>
          <a:xfrm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ph type="body" sz="quarter" idx="6" hasCustomPrompt="1"/>
          </p:nvPr>
        </p:nvSpPr>
        <p:spPr>
          <a:xfrm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ph type="body" sz="quarter" idx="7"/>
          </p:nvPr>
        </p:nvSpPr>
        <p:spPr>
          <a:xfrm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8"/>
          </p:nvPr>
        </p:nvSpPr>
        <p:spPr>
          <a:xfrm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9" name="AutoShape 9"/>
          <p:cNvSpPr/>
          <p:nvPr>
            <p:ph type="body" sz="quarter" idx="9"/>
          </p:nvPr>
        </p:nvSpPr>
        <p:spPr>
          <a:xfrm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0" name="AutoShape 10"/>
          <p:cNvSpPr/>
          <p:nvPr>
            <p:ph type="body" sz="quarter" idx="10"/>
          </p:nvPr>
        </p:nvSpPr>
        <p:spPr>
          <a:xfrm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1" name="AutoShape 11"/>
          <p:cNvSpPr/>
          <p:nvPr>
            <p:ph type="body" sz="quarter" idx="11"/>
          </p:nvPr>
        </p:nvSpPr>
        <p:spPr>
          <a:xfrm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2" name="AutoShape 12"/>
          <p:cNvSpPr/>
          <p:nvPr>
            <p:ph type="body" sz="quarter" idx="12"/>
          </p:nvPr>
        </p:nvSpPr>
        <p:spPr>
          <a:xfrm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3" name="AutoShape 13"/>
          <p:cNvSpPr/>
          <p:nvPr>
            <p:ph type="body" sz="quarter" idx="13"/>
          </p:nvPr>
        </p:nvSpPr>
        <p:spPr>
          <a:xfrm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4" name="AutoShape 14"/>
          <p:cNvSpPr/>
          <p:nvPr>
            <p:ph type="body" sz="quarter" idx="14"/>
          </p:nvPr>
        </p:nvSpPr>
        <p:spPr>
          <a:xfrm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>
            <p:ph type="body" sz="quarter" idx="15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16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pic" sz="quarter" idx="17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8"/>
          </p:nvPr>
        </p:nvSpPr>
        <p:spPr>
          <a:xfrm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19"/>
          </p:nvPr>
        </p:nvSpPr>
        <p:spPr>
          <a:xfrm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pic" sz="quarter" idx="20"/>
          </p:nvPr>
        </p:nvSpPr>
        <p:spPr>
          <a:xfrm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pic" sz="quarter" idx="24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6" name="AutoShape 6"/>
          <p:cNvSpPr/>
          <p:nvPr>
            <p:ph type="pic" sz="quarter" idx="25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6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27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28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29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pic" sz="quarter" idx="30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7" name="AutoShape 7"/>
          <p:cNvSpPr/>
          <p:nvPr>
            <p:ph type="pic" sz="quarter" idx="31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8" name="AutoShape 8"/>
          <p:cNvSpPr/>
          <p:nvPr>
            <p:ph type="pic" sz="quarter" idx="32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3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pic" sz="quarter" idx="34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35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5" name="AutoShape 5"/>
          <p:cNvSpPr/>
          <p:nvPr>
            <p:ph type="pic" sz="quarter" idx="36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6" name="AutoShape 6"/>
          <p:cNvSpPr/>
          <p:nvPr>
            <p:ph type="pic" sz="quarter" idx="37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7" name="AutoShape 7"/>
          <p:cNvSpPr/>
          <p:nvPr>
            <p:ph type="body" sz="quarter" idx="38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39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9" name="AutoShape 9"/>
          <p:cNvSpPr/>
          <p:nvPr>
            <p:ph type="body" sz="quarter" idx="40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0" name="AutoShape 10"/>
          <p:cNvSpPr/>
          <p:nvPr>
            <p:ph type="body" sz="quarter" idx="41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1" name="AutoShape 11"/>
          <p:cNvSpPr/>
          <p:nvPr>
            <p:ph type="body" sz="quarter" idx="42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2" name="AutoShape 12"/>
          <p:cNvSpPr/>
          <p:nvPr>
            <p:ph type="body" sz="quarter" idx="43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3" name="AutoShape 13"/>
          <p:cNvSpPr/>
          <p:nvPr>
            <p:ph type="body" sz="quarter" idx="44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14" name="AutoShape 14"/>
          <p:cNvSpPr/>
          <p:nvPr>
            <p:ph type="body" sz="quarter" idx="45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6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pic" sz="quarter" idx="47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pic" sz="quarter" idx="48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5" name="AutoShape 5"/>
          <p:cNvSpPr/>
          <p:nvPr>
            <p:ph type="pic" sz="quarter" idx="49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6" name="AutoShape 6"/>
          <p:cNvSpPr/>
          <p:nvPr>
            <p:ph type="pic" sz="quarter" idx="50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7" name="AutoShape 7"/>
          <p:cNvSpPr/>
          <p:nvPr>
            <p:ph type="pic" sz="quarter" idx="51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8" name="AutoShape 8"/>
          <p:cNvSpPr/>
          <p:nvPr>
            <p:ph type="pic" sz="quarter" idx="52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9" name="AutoShape 9"/>
          <p:cNvSpPr/>
          <p:nvPr>
            <p:ph type="body" sz="quarter" idx="53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0" name="AutoShape 10"/>
          <p:cNvSpPr/>
          <p:nvPr>
            <p:ph type="body" sz="quarter" idx="54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1" name="AutoShape 11"/>
          <p:cNvSpPr/>
          <p:nvPr>
            <p:ph type="body" sz="quarter" idx="55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2" name="AutoShape 12"/>
          <p:cNvSpPr/>
          <p:nvPr>
            <p:ph type="body" sz="quarter" idx="56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3" name="AutoShape 13"/>
          <p:cNvSpPr/>
          <p:nvPr>
            <p:ph type="body" sz="quarter" idx="57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14" name="AutoShape 14"/>
          <p:cNvSpPr/>
          <p:nvPr>
            <p:ph type="body" sz="quarter" idx="58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17000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anchor="ctr">
            <a:sp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2103" y="299818"/>
            <a:ext cx="914761" cy="482600"/>
            <a:chOff x="752103" y="299818"/>
            <a:chExt cx="914761" cy="482600"/>
          </a:xfrm>
        </p:grpSpPr>
        <p:sp>
          <p:nvSpPr>
            <p:cNvPr id="3" name="AutoShape 3"/>
            <p:cNvSpPr/>
            <p:nvPr/>
          </p:nvSpPr>
          <p:spPr>
            <a:xfrm>
              <a:off x="752103" y="299818"/>
              <a:ext cx="914761" cy="482600"/>
            </a:xfrm>
            <a:prstGeom prst="rect">
              <a:avLst/>
            </a:prstGeom>
            <a:noFill/>
            <a:ln w="25400">
              <a:noFill/>
              <a:prstDash val="solid"/>
            </a:ln>
            <a:effectLst/>
          </p:spPr>
          <p:txBody>
            <a:bodyPr wrap="square" lIns="127000" tIns="127000" rIns="127000" bIns="127000" rtlCol="0" anchor="ctr">
              <a:spAutoFit/>
            </a:bodyPr>
            <a:lstStyle/>
            <a:p>
              <a:pPr indent="0" algn="l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1F2329"/>
                  </a:solidFill>
                </a:rPr>
                <a:t>LOGO</a:t>
              </a:r>
              <a:endParaRPr lang="en-US" sz="1100"/>
            </a:p>
          </p:txBody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105" y="397569"/>
            <a:ext cx="287099" cy="2870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2103" y="299818"/>
            <a:ext cx="914761" cy="482600"/>
            <a:chOff x="752103" y="299818"/>
            <a:chExt cx="914761" cy="482600"/>
          </a:xfrm>
        </p:grpSpPr>
        <p:sp>
          <p:nvSpPr>
            <p:cNvPr id="3" name="AutoShape 3"/>
            <p:cNvSpPr/>
            <p:nvPr/>
          </p:nvSpPr>
          <p:spPr>
            <a:xfrm>
              <a:off x="752103" y="299818"/>
              <a:ext cx="914761" cy="482600"/>
            </a:xfrm>
            <a:prstGeom prst="rect">
              <a:avLst/>
            </a:prstGeom>
            <a:noFill/>
            <a:ln w="25400">
              <a:noFill/>
              <a:prstDash val="solid"/>
            </a:ln>
            <a:effectLst/>
          </p:spPr>
          <p:txBody>
            <a:bodyPr wrap="square" lIns="127000" tIns="127000" rIns="127000" bIns="127000" rtlCol="0" anchor="ctr">
              <a:spAutoFit/>
            </a:bodyPr>
            <a:lstStyle/>
            <a:p>
              <a:pPr indent="0" algn="l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F8F7F6"/>
                  </a:solidFill>
                </a:rPr>
                <a:t>LOGO</a:t>
              </a:r>
              <a:endParaRPr lang="en-US" sz="1100"/>
            </a:p>
          </p:txBody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105" y="397569"/>
            <a:ext cx="287099" cy="2870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2103" y="299818"/>
            <a:ext cx="914761" cy="482600"/>
            <a:chOff x="752103" y="299818"/>
            <a:chExt cx="914761" cy="482600"/>
          </a:xfrm>
        </p:grpSpPr>
        <p:sp>
          <p:nvSpPr>
            <p:cNvPr id="3" name="AutoShape 3"/>
            <p:cNvSpPr/>
            <p:nvPr/>
          </p:nvSpPr>
          <p:spPr>
            <a:xfrm>
              <a:off x="752103" y="299818"/>
              <a:ext cx="914761" cy="482600"/>
            </a:xfrm>
            <a:prstGeom prst="rect">
              <a:avLst/>
            </a:prstGeom>
            <a:noFill/>
            <a:ln w="25400">
              <a:noFill/>
              <a:prstDash val="solid"/>
            </a:ln>
            <a:effectLst/>
          </p:spPr>
          <p:txBody>
            <a:bodyPr wrap="square" lIns="127000" tIns="127000" rIns="127000" bIns="127000" rtlCol="0" anchor="ctr">
              <a:spAutoFit/>
            </a:bodyPr>
            <a:lstStyle/>
            <a:p>
              <a:pPr indent="0" algn="l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1F2329"/>
                  </a:solidFill>
                </a:rPr>
                <a:t>LOGO</a:t>
              </a:r>
              <a:endParaRPr lang="en-US" sz="1100"/>
            </a:p>
          </p:txBody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105" y="397569"/>
            <a:ext cx="287099" cy="287099"/>
          </a:xfrm>
          <a:prstGeom prst="rect">
            <a:avLst/>
          </a:prstGeom>
        </p:spPr>
      </p:pic>
      <p:sp>
        <p:nvSpPr>
          <p:cNvPr id="5" name="AutoShape 5"/>
          <p:cNvSpPr/>
          <p:nvPr>
            <p:ph type="body" sz="quarter" idx="61" hasCustomPrompt="1"/>
          </p:nvPr>
        </p:nvSpPr>
        <p:spPr>
          <a:xfrm>
            <a:off x="2211051" y="2237657"/>
            <a:ext cx="7769898" cy="14732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127000" tIns="127000" rIns="127000" bIns="127000" anchor="ctr">
            <a:spAutoFit/>
          </a:bodyPr>
          <a:lstStyle>
            <a:lvl1pPr algn="ctr">
              <a:lnSpc>
                <a:spcPct val="100000"/>
              </a:lnSpc>
              <a:defRPr sz="8000" b="1" i="0" u="none" strike="noStrike">
                <a:solidFill>
                  <a:srgbClr val="EC914E">
                    <a:alpha val="100000"/>
                  </a:srgbClr>
                </a:solidFill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8000" b="1" i="0" u="none" strike="noStrike">
                <a:solidFill>
                  <a:srgbClr val="EC914E"/>
                </a:solidFill>
              </a:rPr>
              <a:t>Your Title</a:t>
            </a:r>
            <a:endParaRPr lang="en-US" sz="8000" b="1" i="0" u="none" strike="noStrike">
              <a:solidFill>
                <a:srgbClr val="EC914E"/>
              </a:solidFill>
            </a:endParaRPr>
          </a:p>
        </p:txBody>
      </p:sp>
      <p:sp>
        <p:nvSpPr>
          <p:cNvPr id="6" name="AutoShape 6"/>
          <p:cNvSpPr/>
          <p:nvPr>
            <p:ph type="body" sz="quarter" idx="62" hasCustomPrompt="1"/>
          </p:nvPr>
        </p:nvSpPr>
        <p:spPr>
          <a:xfrm>
            <a:off x="2211051" y="3698157"/>
            <a:ext cx="7769898" cy="558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127000" tIns="127000" rIns="127000" bIns="127000" anchor="ctr">
            <a:spAutoFit/>
          </a:bodyPr>
          <a:lstStyle>
            <a:lvl1pPr algn="ctr">
              <a:lnSpc>
                <a:spcPct val="125000"/>
              </a:lnSpc>
              <a:defRPr sz="1600" b="0" i="0" u="none" strike="noStrike">
                <a:solidFill>
                  <a:srgbClr val="808080">
                    <a:alpha val="100000"/>
                  </a:srgbClr>
                </a:solidFill>
              </a:defRPr>
            </a:lvl1pPr>
          </a:lstStyle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808080"/>
                </a:solidFill>
              </a:rPr>
              <a:t>Something detail about your title</a:t>
            </a:r>
            <a:endParaRPr lang="en-US" sz="1600" b="0" i="0" u="none" strike="noStrike">
              <a:solidFill>
                <a:srgbClr val="808080"/>
              </a:solidFill>
            </a:endParaRPr>
          </a:p>
        </p:txBody>
      </p:sp>
      <p:sp>
        <p:nvSpPr>
          <p:cNvPr id="7" name="AutoShape 7"/>
          <p:cNvSpPr/>
          <p:nvPr>
            <p:ph type="body" sz="quarter" idx="63" hasCustomPrompt="1"/>
          </p:nvPr>
        </p:nvSpPr>
        <p:spPr>
          <a:xfrm>
            <a:off x="2211051" y="1805857"/>
            <a:ext cx="7769898" cy="6731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127000" tIns="127000" rIns="127000" bIns="127000" anchor="ctr">
            <a:spAutoFit/>
          </a:bodyPr>
          <a:lstStyle>
            <a:lvl1pPr algn="ctr">
              <a:lnSpc>
                <a:spcPct val="125000"/>
              </a:lnSpc>
              <a:defRPr sz="2200" b="1" i="0" u="none" strike="noStrike">
                <a:solidFill>
                  <a:srgbClr val="1F2329">
                    <a:alpha val="100000"/>
                  </a:srgbClr>
                </a:solidFill>
              </a:defRPr>
            </a:lvl1pPr>
          </a:lstStyle>
          <a:p>
            <a:pPr indent="0" algn="ctr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1F2329"/>
                </a:solidFill>
              </a:rPr>
              <a:t>Subtitle</a:t>
            </a:r>
            <a:endParaRPr lang="en-US" sz="2200" b="1" i="0" u="none" strike="noStrike">
              <a:solidFill>
                <a:srgbClr val="1F2329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6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6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9.png"/><Relationship Id="rId1" Type="http://schemas.openxmlformats.org/officeDocument/2006/relationships/hyperlink" Target="http://blog.leanote.com/post/chty_syq/Auto-Encoding" TargetMode="Externa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74754" y="1829315"/>
            <a:ext cx="9197550" cy="990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83000"/>
              </a:lnSpc>
              <a:defRPr/>
            </a:pPr>
            <a:r>
              <a:rPr lang="en-US" sz="5800" b="1" i="0" u="none" strike="noStrike">
                <a:solidFill>
                  <a:srgbClr val="EC914E"/>
                </a:solidFill>
              </a:rPr>
              <a:t>Personal Presentation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291837" y="2819915"/>
            <a:ext cx="6288915" cy="673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83000"/>
              </a:lnSpc>
              <a:defRPr/>
            </a:pPr>
            <a:r>
              <a:rPr lang="en-US" sz="3300" b="1" i="0" u="none" strike="noStrike">
                <a:solidFill>
                  <a:srgbClr val="1F2329"/>
                </a:solidFill>
              </a:rPr>
              <a:t>Intelligent Industrialization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00494" y="3965822"/>
            <a:ext cx="1510077" cy="469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83000"/>
              </a:lnSpc>
              <a:defRPr/>
            </a:pPr>
            <a:r>
              <a:rPr lang="en-US" sz="1700" b="1" i="0" u="none" strike="noStrike">
                <a:solidFill>
                  <a:srgbClr val="1F2329"/>
                </a:solidFill>
              </a:rPr>
              <a:t>Yiqun Song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25894" y="4638605"/>
            <a:ext cx="1510077" cy="4705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83000"/>
              </a:lnSpc>
              <a:defRPr/>
            </a:pPr>
            <a:r>
              <a:rPr lang="en-US" sz="1700" b="1" i="0" u="none" strike="noStrike">
                <a:solidFill>
                  <a:srgbClr val="1F2329"/>
                </a:solidFill>
              </a:rPr>
              <a:t>2025/10/24</a:t>
            </a:r>
            <a:endParaRPr lang="en-US" sz="11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10862"/>
            <a:ext cx="3504877" cy="176542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4994621" y="1643195"/>
            <a:ext cx="5588000" cy="3500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25000"/>
              </a:lnSpc>
              <a:defRPr sz="2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330200" indent="-3302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  <a:r>
              <a:rPr lang="en-US" sz="2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Self Introduction</a:t>
            </a:r>
            <a:endParaRPr lang="en-US" sz="2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30200" indent="-3302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</a:p>
          <a:p>
            <a:pPr marL="330200" indent="-3302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  <a:r>
              <a:rPr lang="en-US" sz="2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Experience </a:t>
            </a:r>
            <a:endParaRPr lang="en-US" sz="2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30200" indent="-3302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</a:p>
          <a:p>
            <a:pPr marL="330200" indent="-3302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  <a:r>
              <a:rPr lang="en-US" sz="2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Personal Motivation</a:t>
            </a:r>
            <a:endParaRPr lang="en-US" sz="2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30200" indent="-3302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</a:p>
          <a:p>
            <a:pPr marL="330200" indent="-330200" algn="l">
              <a:lnSpc>
                <a:spcPct val="125000"/>
              </a:lnSpc>
              <a:buClr>
                <a:srgbClr val="1F2329"/>
              </a:buClr>
              <a:buFont typeface="+mj-lt"/>
              <a:buAutoNum type="arabicPeriod"/>
            </a:pPr>
            <a:r>
              <a:rPr lang="en-US" sz="2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Future Plan</a:t>
            </a:r>
            <a:endParaRPr lang="en-US" sz="2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ph type="body" sz="quarter" idx="2" hasCustomPrompt="1"/>
          </p:nvPr>
        </p:nvSpPr>
        <p:spPr>
          <a:xfrm>
            <a:off x="591196" y="3088772"/>
            <a:ext cx="2322485" cy="609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2230" y="893559"/>
            <a:ext cx="56261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Self Introduction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 rot="-5400000">
            <a:off x="8297812" y="5105846"/>
            <a:ext cx="1244600" cy="1244600"/>
          </a:xfrm>
          <a:prstGeom prst="rtTriangle">
            <a:avLst/>
          </a:prstGeom>
          <a:solidFill>
            <a:srgbClr val="17B69C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5399999">
            <a:off x="9542412" y="3893667"/>
            <a:ext cx="2107551" cy="2107551"/>
          </a:xfrm>
          <a:prstGeom prst="blockArc">
            <a:avLst/>
          </a:prstGeom>
          <a:solidFill>
            <a:srgbClr val="FAD355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774451" y="5108087"/>
            <a:ext cx="1242358" cy="1242358"/>
          </a:xfrm>
          <a:prstGeom prst="round1Rect">
            <a:avLst/>
          </a:prstGeom>
          <a:solidFill>
            <a:srgbClr val="FFFFFF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-5400000">
            <a:off x="10774451" y="5105846"/>
            <a:ext cx="1244600" cy="1244600"/>
          </a:xfrm>
          <a:prstGeom prst="rtTriangle">
            <a:avLst/>
          </a:prstGeom>
          <a:solidFill>
            <a:srgbClr val="EC914E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779273" y="2027510"/>
            <a:ext cx="1524000" cy="596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</a:rPr>
              <a:t>Education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779273" y="238311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Zhejiang University</a:t>
            </a:r>
            <a:r>
              <a:rPr lang="en-US" sz="1400" b="0" i="0" u="none" strike="noStrike">
                <a:solidFill>
                  <a:srgbClr val="000000"/>
                </a:solidFill>
              </a:rPr>
              <a:t>, </a:t>
            </a:r>
            <a:r>
              <a:rPr lang="en-US" sz="1400" b="0" i="0" u="none" strike="noStrike">
                <a:solidFill>
                  <a:srgbClr val="000000"/>
                </a:solidFill>
              </a:rPr>
              <a:t>Computer Science and Technology</a:t>
            </a:r>
            <a:r>
              <a:rPr lang="en-US" sz="1400" b="0" i="0" u="none" strike="noStrike">
                <a:solidFill>
                  <a:srgbClr val="000000"/>
                </a:solidFill>
              </a:rPr>
              <a:t>. 2018–2022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779273" y="2984081"/>
            <a:ext cx="3632200" cy="596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</a:rPr>
              <a:t>Employment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779273" y="3338411"/>
            <a:ext cx="4015740" cy="523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Tech Leader in Chohotech Co., Ltd. 2022–2025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779273" y="3965053"/>
            <a:ext cx="3632200" cy="596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</a:rPr>
              <a:t>Internship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779273" y="4320653"/>
            <a:ext cx="5867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Server Development Engineer Intern in ByteDance Ltd. 2021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79273" y="4920036"/>
            <a:ext cx="1054100" cy="600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</a:rPr>
              <a:t>Honors</a:t>
            </a:r>
            <a:endParaRPr lang="en-US" sz="1800" b="1" i="0" u="none" strike="noStrike">
              <a:solidFill>
                <a:srgbClr val="1F2329"/>
              </a:solidFill>
            </a:endParaR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779273" y="5277223"/>
            <a:ext cx="75311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Bronze prices in National Olympiad in Informatics(NOI). 2017</a:t>
            </a:r>
            <a:endParaRPr lang="en-US" sz="11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2230" y="869158"/>
            <a:ext cx="106934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Entrepreneurship in </a:t>
            </a:r>
            <a:r>
              <a:rPr lang="en-US" sz="3600" b="1" i="0" u="none" strike="noStrike">
                <a:solidFill>
                  <a:srgbClr val="000000"/>
                </a:solidFill>
              </a:rPr>
              <a:t>Chohotech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02230" y="1973107"/>
            <a:ext cx="7556500" cy="32162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F2329"/>
                </a:solidFill>
              </a:rPr>
              <a:t>Chohotech is a startup company dedicated to the intelligent orthodontic solutions. I joined Chohotech as a founding member in 2021.</a:t>
            </a:r>
            <a:endParaRPr lang="en-US" sz="1100" b="1"/>
          </a:p>
          <a:p>
            <a:pPr indent="0" algn="l">
              <a:lnSpc>
                <a:spcPct val="125000"/>
              </a:lnSpc>
            </a:pPr>
            <a:endParaRPr b="1"/>
          </a:p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1" i="0" u="none" strike="noStrike">
                <a:solidFill>
                  <a:srgbClr val="1F2329"/>
                </a:solidFill>
              </a:rPr>
              <a:t>Nowadays, the company has </a:t>
            </a:r>
            <a:r>
              <a:rPr lang="en-US" sz="1600" b="1" i="0" u="none" strike="noStrike">
                <a:solidFill>
                  <a:srgbClr val="1F2329"/>
                </a:solidFill>
              </a:rPr>
              <a:t>over 70 members and its annual revenue reaches tens of millions.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  <a:endParaRPr b="1"/>
          </a:p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1" i="0" u="none" strike="noStrike">
                <a:solidFill>
                  <a:srgbClr val="1F2329"/>
                </a:solidFill>
              </a:rPr>
              <a:t>I design and implement the automatic orthodontics algorithms as project leader. During this process, I lead the engineering, algorithm and medical teams to iterate the product.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  <a:endParaRPr b="1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738" y="2819141"/>
            <a:ext cx="3048412" cy="152420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2230" y="869158"/>
            <a:ext cx="106934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Project: Automatic Orthodontics Design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23429" y="2153101"/>
            <a:ext cx="3839158" cy="206919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99" y="2153101"/>
            <a:ext cx="3985332" cy="206919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5633670" y="2901790"/>
            <a:ext cx="830520" cy="571821"/>
          </a:xfrm>
          <a:prstGeom prst="rightArrow">
            <a:avLst/>
          </a:prstGeom>
          <a:solidFill>
            <a:srgbClr val="3370FF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339964" y="4222299"/>
            <a:ext cx="1989107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</a:rPr>
              <a:t>Initial dentition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878722" y="4222299"/>
            <a:ext cx="1989107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</a:rPr>
              <a:t>Target dentition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02230" y="4984299"/>
            <a:ext cx="10198426" cy="86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F2329"/>
                </a:solidFill>
              </a:rPr>
              <a:t>We build a system that automatically designs the target dentition from the patient's initial dentition.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1" i="0" u="none" strike="noStrike">
                <a:solidFill>
                  <a:srgbClr val="1F2329"/>
                </a:solidFill>
              </a:rPr>
              <a:t>The system also generates the whole treatment plan.</a:t>
            </a:r>
            <a:endParaRPr lang="en-US" sz="1600" b="1" i="0" u="none" strike="noStrike">
              <a:solidFill>
                <a:srgbClr val="1F2329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2230" y="869158"/>
            <a:ext cx="106934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Project: Automatic Orthodontics Design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02230" y="4872498"/>
            <a:ext cx="10541000" cy="116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F2329"/>
                </a:solidFill>
              </a:rPr>
              <a:t>The system is based on </a:t>
            </a:r>
            <a:r>
              <a:rPr lang="en-US" sz="1600" b="1" i="0" u="none" strike="noStrike">
                <a:solidFill>
                  <a:srgbClr val="1F2329"/>
                </a:solidFill>
                <a:hlinkClick r:id="rId1" tooltip="http://blog.leanote.com/post/chty_syq/Auto-Encoding"/>
              </a:rPr>
              <a:t>variational auto-encoder</a:t>
            </a:r>
            <a:r>
              <a:rPr lang="en-US" sz="1600" b="1" i="0" u="none" strike="noStrike">
                <a:solidFill>
                  <a:srgbClr val="1F2329"/>
                </a:solidFill>
              </a:rPr>
              <a:t> and </a:t>
            </a:r>
            <a:r>
              <a:rPr lang="en-US" sz="1600" b="1" i="0" u="none" strike="noStrike">
                <a:solidFill>
                  <a:srgbClr val="3370FF"/>
                </a:solidFill>
              </a:rPr>
              <a:t>multi-agent reinforcement learning</a:t>
            </a:r>
            <a:r>
              <a:rPr lang="en-US" sz="1600" b="1" i="0" u="none" strike="noStrike">
                <a:solidFill>
                  <a:srgbClr val="1F2329"/>
                </a:solidFill>
              </a:rPr>
              <a:t>. 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1" i="0" u="none" strike="noStrike">
                <a:solidFill>
                  <a:srgbClr val="1F2329"/>
                </a:solidFill>
              </a:rPr>
              <a:t>Our method achieved a clinical availability rate of 68% while traditional methods is less than 30% in the medical test. And Our method is more efficient.</a:t>
            </a:r>
            <a:endParaRPr lang="en-US" sz="1600" b="1" i="0" u="none" strike="noStrike">
              <a:solidFill>
                <a:srgbClr val="1F2329"/>
              </a:solidFill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66" y="1965750"/>
            <a:ext cx="9023268" cy="2826821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2230" y="869158"/>
            <a:ext cx="106934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Project: Automatic Orthodontics Design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02230" y="1925356"/>
            <a:ext cx="10541000" cy="147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F2329"/>
                </a:solidFill>
              </a:rPr>
              <a:t>The algorithm has been accessed by several orthodontic manufacturers and deployed on our webapp for customers to use: https://lyoral-container.alpha.chohotech.com/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1" i="0" u="none" strike="noStrike">
                <a:solidFill>
                  <a:srgbClr val="1F2329"/>
                </a:solidFill>
              </a:rPr>
              <a:t>The project has applied for multiple technical patents.</a:t>
            </a:r>
            <a:endParaRPr lang="en-US" sz="1600" b="1" i="0" u="none" strike="noStrike">
              <a:solidFill>
                <a:srgbClr val="1F2329"/>
              </a:solidFill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95772"/>
            <a:ext cx="12192000" cy="872067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4531572"/>
            <a:ext cx="12192000" cy="8642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41954"/>
            <a:ext cx="12192000" cy="889618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9356" y="861828"/>
            <a:ext cx="56261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Welcome to My Blog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5194" y="1048211"/>
            <a:ext cx="5914163" cy="476157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639356" y="2057414"/>
            <a:ext cx="11430000" cy="330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1" i="0" u="none" strike="noStrike">
                <a:solidFill>
                  <a:srgbClr val="1F2329"/>
                </a:solidFill>
              </a:rPr>
              <a:t>I keep sharing my experience on blog during 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</a:rPr>
              <a:t>studies, which made me understanding the 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</a:rPr>
              <a:t>principles more clear.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</a:p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1" i="0" u="none" strike="noStrike">
                <a:solidFill>
                  <a:srgbClr val="1F2329"/>
                </a:solidFill>
              </a:rPr>
              <a:t>I</a:t>
            </a:r>
            <a:r>
              <a:rPr lang="en-US" sz="1600" b="1" i="0" u="none" strike="noStrike">
                <a:solidFill>
                  <a:srgbClr val="1F2329"/>
                </a:solidFill>
              </a:rPr>
              <a:t> love to question to the end. I often encounter 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</a:rPr>
              <a:t>details that are not explained in the textbook, 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</a:rPr>
              <a:t>such as the proofs of certain lemmas. I always 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</a:rPr>
              <a:t>explore them and record the process on my blog.</a:t>
            </a:r>
            <a:endParaRPr lang="en-US" sz="1600" b="1" i="0" u="none" strike="noStrike">
              <a:solidFill>
                <a:srgbClr val="1F2329"/>
              </a:solidFill>
            </a:endParaRPr>
          </a:p>
          <a:p>
            <a:pPr indent="0" algn="l">
              <a:lnSpc>
                <a:spcPct val="125000"/>
              </a:lnSpc>
            </a:pPr>
          </a:p>
          <a:p>
            <a:pPr marL="203200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0" i="0" u="none" strike="noStrike">
                <a:solidFill>
                  <a:srgbClr val="1F2329"/>
                </a:solidFill>
              </a:rPr>
              <a:t>http://blog.leanote.com/chty_syq</a:t>
            </a:r>
            <a:endParaRPr lang="en-US" sz="1600" b="0" i="0" u="none" strike="noStrike">
              <a:solidFill>
                <a:srgbClr val="1F2329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34881" y="1925136"/>
            <a:ext cx="4160749" cy="4055678"/>
          </a:xfrm>
          <a:prstGeom prst="roundRect">
            <a:avLst>
              <a:gd name="adj" fmla="val 5010"/>
            </a:avLst>
          </a:prstGeom>
          <a:solidFill>
            <a:srgbClr val="D7F8BC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02230" y="1925136"/>
            <a:ext cx="4254889" cy="4055678"/>
          </a:xfrm>
          <a:prstGeom prst="roundRect">
            <a:avLst>
              <a:gd name="adj" fmla="val 5010"/>
            </a:avLst>
          </a:prstGeom>
          <a:solidFill>
            <a:srgbClr val="A9E0FF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ph type="body" sz="quarter" idx="22" hasCustomPrompt="1"/>
          </p:nvPr>
        </p:nvSpPr>
        <p:spPr>
          <a:xfrm>
            <a:off x="7966620" y="2268036"/>
            <a:ext cx="269727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25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Academic in HKUST(GZ)</a:t>
            </a:r>
            <a:endParaRPr 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ph type="body" sz="quarter" idx="21" hasCustomPrompt="1"/>
          </p:nvPr>
        </p:nvSpPr>
        <p:spPr>
          <a:xfrm>
            <a:off x="1802296" y="2268036"/>
            <a:ext cx="2054757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25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Current situation</a:t>
            </a:r>
            <a:endParaRPr lang="en-US" sz="18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40330" y="907258"/>
            <a:ext cx="10693400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Personal Motivation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68342" y="2825750"/>
            <a:ext cx="3930513" cy="25781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190500" indent="-1905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 academic freedom in company. Endless customer needs take up most of my time.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marL="190500" indent="-1905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 sense of accomplishment in what I am doing.</a:t>
            </a:r>
            <a:endParaRPr lang="en-US" sz="15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marL="190500" indent="-1905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Little guidance, no academic exchange.</a:t>
            </a:r>
            <a:endParaRPr lang="en-US" sz="15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</a:p>
        </p:txBody>
      </p:sp>
      <p:sp>
        <p:nvSpPr>
          <p:cNvPr id="8" name="AutoShape 8"/>
          <p:cNvSpPr/>
          <p:nvPr/>
        </p:nvSpPr>
        <p:spPr>
          <a:xfrm>
            <a:off x="7393145" y="2825750"/>
            <a:ext cx="4002485" cy="2286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190500" indent="-1905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Free and interdisciplinary academic atmosphere.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marL="190500" indent="-1905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Strong faculty, like-minded researchers and excellent collaborators.</a:t>
            </a:r>
            <a:endParaRPr lang="en-US" sz="15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marL="190500" indent="-1905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5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wealth of academic resources that support me with cool projects.</a:t>
            </a:r>
            <a:endParaRPr lang="en-US" sz="15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94021" y="3629014"/>
            <a:ext cx="2054757" cy="647922"/>
          </a:xfrm>
          <a:prstGeom prst="rightArrow">
            <a:avLst/>
          </a:prstGeom>
          <a:solidFill>
            <a:srgbClr val="FAD355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86300" y="3124200"/>
            <a:ext cx="28194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Passionate about 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academics</a:t>
            </a:r>
            <a:endParaRPr lang="en-US" sz="1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2230" y="869158"/>
            <a:ext cx="106934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Intelligent Industrial Vision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-5612" b="-5612"/>
          <a:stretch>
            <a:fillRect/>
          </a:stretch>
        </p:blipFill>
        <p:spPr>
          <a:xfrm>
            <a:off x="0" y="1669258"/>
            <a:ext cx="12192000" cy="5188742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8297812" y="5105846"/>
            <a:ext cx="1244600" cy="1244600"/>
          </a:xfrm>
          <a:prstGeom prst="rtTriangle">
            <a:avLst/>
          </a:prstGeom>
          <a:solidFill>
            <a:srgbClr val="17B69C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5399999">
            <a:off x="9542412" y="3893667"/>
            <a:ext cx="2107551" cy="2107551"/>
          </a:xfrm>
          <a:prstGeom prst="blockArc">
            <a:avLst/>
          </a:prstGeom>
          <a:solidFill>
            <a:srgbClr val="FAD355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-5400000">
            <a:off x="10774451" y="5108087"/>
            <a:ext cx="1242358" cy="1242358"/>
          </a:xfrm>
          <a:prstGeom prst="round1Rect">
            <a:avLst/>
          </a:prstGeom>
          <a:solidFill>
            <a:srgbClr val="FFFFFF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 rot="-5400000">
            <a:off x="10774451" y="5105846"/>
            <a:ext cx="1244600" cy="1244600"/>
          </a:xfrm>
          <a:prstGeom prst="rtTriangle">
            <a:avLst/>
          </a:prstGeom>
          <a:solidFill>
            <a:srgbClr val="EC914E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55794" y="2100781"/>
            <a:ext cx="779964" cy="77996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>
            <a:noFill/>
            <a:prstDash val="solid"/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47FF"/>
                </a:solidFill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19738" y="2020863"/>
            <a:ext cx="8064500" cy="939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</a:rPr>
              <a:t>Research</a:t>
            </a:r>
            <a:r>
              <a:rPr lang="en-US" sz="1800" b="1" i="0" u="none" strike="noStrike">
                <a:solidFill>
                  <a:srgbClr val="1F2329"/>
                </a:solidFill>
              </a:rPr>
              <a:t> for reinforcement learning in various scenarios, such as robotics design, autonomous driving and large language model.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55794" y="3158952"/>
            <a:ext cx="779964" cy="77996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>
            <a:noFill/>
            <a:prstDash val="solid"/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47FF"/>
                </a:solidFill>
              </a:rPr>
              <a:t>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19738" y="3270306"/>
            <a:ext cx="8064500" cy="596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</a:rPr>
              <a:t>Study the algorithm principles in depth. Not just superficial works.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55794" y="4224558"/>
            <a:ext cx="779964" cy="779964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>
            <a:noFill/>
            <a:prstDash val="solid"/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47FF"/>
                </a:solidFill>
              </a:rPr>
              <a:t>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19212" y="4151449"/>
            <a:ext cx="8065026" cy="939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</a:rPr>
              <a:t>Pursue a PHD degree, and a postdoctoral position or a faculty role in the future.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0630" y="767558"/>
            <a:ext cx="106934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</a:rPr>
              <a:t>Future Plan</a:t>
            </a:r>
            <a:endParaRPr lang="en-US" sz="11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68383" y="2362200"/>
            <a:ext cx="3255234" cy="106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27000" tIns="127000" rIns="127000" bIns="127000" rtlCol="0" anchor="ctr">
            <a:spAutoFit/>
          </a:bodyPr>
          <a:lstStyle/>
          <a:p>
            <a:pPr indent="0" algn="l">
              <a:lnSpc>
                <a:spcPct val="83000"/>
              </a:lnSpc>
              <a:defRPr/>
            </a:pPr>
            <a:r>
              <a:rPr lang="en-US" sz="6400" b="1" i="0" u="none" strike="noStrike">
                <a:solidFill>
                  <a:srgbClr val="FAD355"/>
                </a:solidFill>
              </a:rPr>
              <a:t>Thanks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007599" y="5067703"/>
            <a:ext cx="1244600" cy="1244600"/>
          </a:xfrm>
          <a:prstGeom prst="rtTriangle">
            <a:avLst/>
          </a:prstGeom>
          <a:solidFill>
            <a:srgbClr val="17B69C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252199" y="5067703"/>
            <a:ext cx="2332239" cy="1244600"/>
          </a:xfrm>
          <a:prstGeom prst="round2DiagRect">
            <a:avLst/>
          </a:prstGeom>
          <a:solidFill>
            <a:srgbClr val="EC914E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18399" y="3823103"/>
            <a:ext cx="2489200" cy="2489200"/>
          </a:xfrm>
          <a:prstGeom prst="donut">
            <a:avLst/>
          </a:prstGeom>
          <a:solidFill>
            <a:srgbClr val="FAD355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496799" y="5231087"/>
            <a:ext cx="917831" cy="917831"/>
          </a:xfrm>
          <a:prstGeom prst="pie">
            <a:avLst/>
          </a:prstGeom>
          <a:solidFill>
            <a:srgbClr val="F8F7F6">
              <a:alpha val="100000"/>
            </a:srgbClr>
          </a:solidFill>
          <a:ln w="25400">
            <a:noFill/>
            <a:prstDash val="solid"/>
          </a:ln>
        </p:spPr>
        <p:txBody>
          <a:bodyPr lIns="127000" tIns="127000" rIns="127000" bIns="1270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ags/tag2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ags/tag3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ags/tag4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ags/tag5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ags/tag6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ags/tag7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ags/tag8.xml><?xml version="1.0" encoding="utf-8"?>
<p:tagLst xmlns:p="http://schemas.openxmlformats.org/presentationml/2006/main">
  <p:tag name="KSO_WM_DIAGRAM_VIRTUALLY_FRAME" val="{&quot;height&quot;:296.8829133858268,&quot;left&quot;:61.36007874015748,&quot;top&quot;:159.64645669291338,&quot;width&quot;:593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2708</Words>
  <Application>WPS 演示</Application>
  <PresentationFormat/>
  <Paragraphs>118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清风</cp:lastModifiedBy>
  <cp:revision>10</cp:revision>
  <dcterms:created xsi:type="dcterms:W3CDTF">2025-10-22T09:29:00Z</dcterms:created>
  <dcterms:modified xsi:type="dcterms:W3CDTF">2025-10-23T10:44:04Z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943CB7D819EE4B95993864645E1FD09A_12</vt:lpwstr>
  </property>
  <property fmtid="{D5CDD505-2E9C-101B-9397-08002B2CF9AE}" pid="3" name="KSOProductBuildVer">
    <vt:lpwstr>2052-12.1.0.23125</vt:lpwstr>
  </property>
</Properties>
</file>